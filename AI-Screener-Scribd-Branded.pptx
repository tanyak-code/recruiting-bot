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D0A07"/>
        </a:buClr>
        <a:buFont typeface="Arial"/>
        <a:defRPr b="0" i="0" sz="1400" u="none" cap="none" strike="noStrike">
          <a:solidFill>
            <a:srgbClr val="0D0A07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D0A07"/>
        </a:buClr>
        <a:buFont typeface="Arial"/>
        <a:defRPr b="0" i="0" sz="1400" u="none" cap="none" strike="noStrike">
          <a:solidFill>
            <a:srgbClr val="0D0A07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D0A07"/>
        </a:buClr>
        <a:buFont typeface="Arial"/>
        <a:defRPr b="0" i="0" sz="1400" u="none" cap="none" strike="noStrike">
          <a:solidFill>
            <a:srgbClr val="0D0A07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D0A07"/>
        </a:buClr>
        <a:buFont typeface="Arial"/>
        <a:defRPr b="0" i="0" sz="1400" u="none" cap="none" strike="noStrike">
          <a:solidFill>
            <a:srgbClr val="0D0A07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D0A07"/>
        </a:buClr>
        <a:buFont typeface="Arial"/>
        <a:defRPr b="0" i="0" sz="1400" u="none" cap="none" strike="noStrike">
          <a:solidFill>
            <a:srgbClr val="0D0A07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D0A07"/>
        </a:buClr>
        <a:buFont typeface="Arial"/>
        <a:defRPr b="0" i="0" sz="1400" u="none" cap="none" strike="noStrike">
          <a:solidFill>
            <a:srgbClr val="0D0A07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D0A07"/>
        </a:buClr>
        <a:buFont typeface="Arial"/>
        <a:defRPr b="0" i="0" sz="1400" u="none" cap="none" strike="noStrike">
          <a:solidFill>
            <a:srgbClr val="0D0A07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D0A07"/>
        </a:buClr>
        <a:buFont typeface="Arial"/>
        <a:defRPr b="0" i="0" sz="1400" u="none" cap="none" strike="noStrike">
          <a:solidFill>
            <a:srgbClr val="0D0A07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D0A07"/>
        </a:buClr>
        <a:buFont typeface="Arial"/>
        <a:defRPr b="0" i="0" sz="1400" u="none" cap="none" strike="noStrike">
          <a:solidFill>
            <a:srgbClr val="0D0A07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D0A07"/>
        </a:buClr>
        <a:buFont typeface="Arial"/>
        <a:defRPr b="0" i="0" sz="1400" u="none" cap="none" strike="noStrike">
          <a:solidFill>
            <a:srgbClr val="0D0A07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D0A07"/>
        </a:buClr>
        <a:buFont typeface="Arial"/>
        <a:defRPr b="0" i="0" sz="1400" u="none" cap="none" strike="noStrike">
          <a:solidFill>
            <a:srgbClr val="0D0A07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D0A07"/>
        </a:buClr>
        <a:buFont typeface="Arial"/>
        <a:defRPr b="0" i="0" sz="1400" u="none" cap="none" strike="noStrike">
          <a:solidFill>
            <a:srgbClr val="0D0A07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D0A07"/>
        </a:buClr>
        <a:buFont typeface="Arial"/>
        <a:defRPr b="0" i="0" sz="1400" u="none" cap="none" strike="noStrike">
          <a:solidFill>
            <a:srgbClr val="0D0A07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D0A07"/>
        </a:buClr>
        <a:buFont typeface="Arial"/>
        <a:defRPr b="0" i="0" sz="1400" u="none" cap="none" strike="noStrike">
          <a:solidFill>
            <a:srgbClr val="0D0A07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D0A07"/>
        </a:buClr>
        <a:buFont typeface="Arial"/>
        <a:defRPr b="0" i="0" sz="1400" u="none" cap="none" strike="noStrike">
          <a:solidFill>
            <a:srgbClr val="0D0A07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D0A07"/>
        </a:buClr>
        <a:buFont typeface="Arial"/>
        <a:defRPr b="0" i="0" sz="1400" u="none" cap="none" strike="noStrike">
          <a:solidFill>
            <a:srgbClr val="0D0A07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D0A07"/>
        </a:buClr>
        <a:buFont typeface="Arial"/>
        <a:defRPr b="0" i="0" sz="1400" u="none" cap="none" strike="noStrike">
          <a:solidFill>
            <a:srgbClr val="0D0A07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D0A07"/>
        </a:buClr>
        <a:buFont typeface="Arial"/>
        <a:defRPr b="0" i="0" sz="1400" u="none" cap="none" strike="noStrike">
          <a:solidFill>
            <a:srgbClr val="0D0A07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D0A07"/>
        </a:buClr>
        <a:buFont typeface="Arial"/>
        <a:defRPr b="0" i="0" sz="1400" u="none" cap="none" strike="noStrike">
          <a:solidFill>
            <a:srgbClr val="0D0A07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D0A07"/>
        </a:buClr>
        <a:buFont typeface="Arial"/>
        <a:defRPr b="0" i="0" sz="1400" u="none" cap="none" strike="noStrike">
          <a:solidFill>
            <a:srgbClr val="0D0A07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D0A07"/>
        </a:buClr>
        <a:buFont typeface="Arial"/>
        <a:defRPr b="0" i="0" sz="1400" u="none" cap="none" strike="noStrike">
          <a:solidFill>
            <a:srgbClr val="0D0A07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D0A07"/>
        </a:buClr>
        <a:buFont typeface="Arial"/>
        <a:defRPr b="0" i="0" sz="1400" u="none" cap="none" strike="noStrike">
          <a:solidFill>
            <a:srgbClr val="0D0A07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D0A07"/>
        </a:buClr>
        <a:buFont typeface="Arial"/>
        <a:defRPr b="0" i="0" sz="1400" u="none" cap="none" strike="noStrike">
          <a:solidFill>
            <a:srgbClr val="0D0A07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D0A07"/>
        </a:buClr>
        <a:buFont typeface="Arial"/>
        <a:defRPr b="0" i="0" sz="1400" u="none" cap="none" strike="noStrike">
          <a:solidFill>
            <a:srgbClr val="0D0A07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D0A07"/>
        </a:buClr>
        <a:buFont typeface="Arial"/>
        <a:defRPr b="0" i="0" sz="1400" u="none" cap="none" strike="noStrike">
          <a:solidFill>
            <a:srgbClr val="0D0A07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D0A07"/>
        </a:buClr>
        <a:buFont typeface="Arial"/>
        <a:defRPr b="0" i="0" sz="1400" u="none" cap="none" strike="noStrike">
          <a:solidFill>
            <a:srgbClr val="0D0A07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D0A07"/>
        </a:buClr>
        <a:buFont typeface="Arial"/>
        <a:defRPr b="0" i="0" sz="1400" u="none" cap="none" strike="noStrike">
          <a:solidFill>
            <a:srgbClr val="0D0A07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2600"/>
              <a:buFont typeface="Outfit"/>
              <a:buNone/>
            </a:pPr>
            <a:r>
              <a:rPr b="1" lang="en-US" sz="2600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Current Screening Workflow</a:t>
            </a:r>
            <a:endParaRPr b="0" i="0" sz="26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57200" y="804672"/>
            <a:ext cx="1097280" cy="50292"/>
          </a:xfrm>
          <a:prstGeom prst="rect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57200" y="1097280"/>
            <a:ext cx="155448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6F2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D0A0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57200" y="1097280"/>
            <a:ext cx="1554480" cy="502920"/>
          </a:xfrm>
          <a:prstGeom prst="rect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457200" y="109728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Outfi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Brainner</a:t>
            </a:r>
            <a:endParaRPr b="0" i="0" sz="13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182880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1100"/>
              <a:buFont typeface="Outfit"/>
              <a:buNone/>
            </a:pPr>
            <a:r>
              <a:rPr b="0" i="0" lang="en-US" sz="110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 xml:space="preserve">Pulls </a:t>
            </a:r>
            <a:r>
              <a:rPr lang="en-US" sz="1100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and scores candidates based on keywords</a:t>
            </a:r>
            <a:endParaRPr b="0" i="0" sz="1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2" name="Google Shape;22;p3"/>
          <p:cNvCxnSpPr/>
          <p:nvPr/>
        </p:nvCxnSpPr>
        <p:spPr>
          <a:xfrm>
            <a:off x="2011680" y="2057400"/>
            <a:ext cx="594360" cy="0"/>
          </a:xfrm>
          <a:prstGeom prst="straightConnector1">
            <a:avLst/>
          </a:prstGeom>
          <a:noFill/>
          <a:ln cap="flat" cmpd="sng" w="254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3"/>
          <p:cNvSpPr/>
          <p:nvPr/>
        </p:nvSpPr>
        <p:spPr>
          <a:xfrm>
            <a:off x="2514600" y="1956816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571C"/>
              </a:buClr>
              <a:buSzPts val="1200"/>
              <a:buFont typeface="Outfit"/>
              <a:buNone/>
            </a:pPr>
            <a:r>
              <a:rPr b="1" i="0" lang="en-US" sz="1200" u="none" cap="none" strike="noStrike">
                <a:solidFill>
                  <a:srgbClr val="FD571C"/>
                </a:solidFill>
                <a:latin typeface="Outfit"/>
                <a:ea typeface="Outfit"/>
                <a:cs typeface="Outfit"/>
                <a:sym typeface="Outfit"/>
              </a:rPr>
              <a:t>&gt;</a:t>
            </a:r>
            <a:endParaRPr b="0" i="0" sz="12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606040" y="1097280"/>
            <a:ext cx="155448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6F2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D0A0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2606040" y="1097280"/>
            <a:ext cx="1554480" cy="502920"/>
          </a:xfrm>
          <a:prstGeom prst="rect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2606040" y="109728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Outfi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Claude AI</a:t>
            </a:r>
            <a:endParaRPr b="0" i="0" sz="13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2697480" y="182880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1100"/>
              <a:buFont typeface="Outfit"/>
              <a:buNone/>
            </a:pPr>
            <a:r>
              <a:rPr lang="en-US" sz="1100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Pulls candidates from Brainner (highest to lowest)</a:t>
            </a:r>
            <a:br>
              <a:rPr lang="en-US" sz="1100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lang="en-US" sz="1100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Screens based on reasoning</a:t>
            </a:r>
            <a:endParaRPr b="0" i="0" sz="1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8" name="Google Shape;28;p3"/>
          <p:cNvCxnSpPr/>
          <p:nvPr/>
        </p:nvCxnSpPr>
        <p:spPr>
          <a:xfrm>
            <a:off x="4160520" y="2057400"/>
            <a:ext cx="594360" cy="0"/>
          </a:xfrm>
          <a:prstGeom prst="straightConnector1">
            <a:avLst/>
          </a:prstGeom>
          <a:noFill/>
          <a:ln cap="flat" cmpd="sng" w="254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3"/>
          <p:cNvSpPr/>
          <p:nvPr/>
        </p:nvSpPr>
        <p:spPr>
          <a:xfrm>
            <a:off x="4663440" y="1956816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571C"/>
              </a:buClr>
              <a:buSzPts val="1200"/>
              <a:buFont typeface="Outfit"/>
              <a:buNone/>
            </a:pPr>
            <a:r>
              <a:rPr b="1" i="0" lang="en-US" sz="1200" u="none" cap="none" strike="noStrike">
                <a:solidFill>
                  <a:srgbClr val="FD571C"/>
                </a:solidFill>
                <a:latin typeface="Outfit"/>
                <a:ea typeface="Outfit"/>
                <a:cs typeface="Outfit"/>
                <a:sym typeface="Outfit"/>
              </a:rPr>
              <a:t>&gt;</a:t>
            </a:r>
            <a:endParaRPr b="0" i="0" sz="12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4754880" y="1097280"/>
            <a:ext cx="155448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6F2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D0A0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4754880" y="1097280"/>
            <a:ext cx="1554480" cy="502920"/>
          </a:xfrm>
          <a:prstGeom prst="rect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4754880" y="109728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Outfi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Live Report</a:t>
            </a:r>
            <a:endParaRPr b="0" i="0" sz="13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4846320" y="182880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1100"/>
              <a:buFont typeface="Outfit"/>
              <a:buNone/>
            </a:pPr>
            <a:r>
              <a:rPr b="0" i="0" lang="en-US" sz="110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HTML dashboard</a:t>
            </a:r>
            <a:endParaRPr b="0" i="0" sz="1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1100"/>
              <a:buFont typeface="Outfit"/>
              <a:buNone/>
            </a:pPr>
            <a:r>
              <a:rPr b="0" i="0" lang="en-US" sz="110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 xml:space="preserve">auto-refreshes + </a:t>
            </a:r>
            <a:r>
              <a:rPr lang="en-US" sz="1100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Data is stored locally and removed</a:t>
            </a:r>
            <a:endParaRPr sz="1100">
              <a:solidFill>
                <a:srgbClr val="0D0A07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34" name="Google Shape;34;p3"/>
          <p:cNvCxnSpPr/>
          <p:nvPr/>
        </p:nvCxnSpPr>
        <p:spPr>
          <a:xfrm>
            <a:off x="6309360" y="2057400"/>
            <a:ext cx="594360" cy="0"/>
          </a:xfrm>
          <a:prstGeom prst="straightConnector1">
            <a:avLst/>
          </a:prstGeom>
          <a:noFill/>
          <a:ln cap="flat" cmpd="sng" w="254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3"/>
          <p:cNvSpPr/>
          <p:nvPr/>
        </p:nvSpPr>
        <p:spPr>
          <a:xfrm>
            <a:off x="6812280" y="1956816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571C"/>
              </a:buClr>
              <a:buSzPts val="1200"/>
              <a:buFont typeface="Outfit"/>
              <a:buNone/>
            </a:pPr>
            <a:r>
              <a:rPr b="1" i="0" lang="en-US" sz="1200" u="none" cap="none" strike="noStrike">
                <a:solidFill>
                  <a:srgbClr val="FD571C"/>
                </a:solidFill>
                <a:latin typeface="Outfit"/>
                <a:ea typeface="Outfit"/>
                <a:cs typeface="Outfit"/>
                <a:sym typeface="Outfit"/>
              </a:rPr>
              <a:t>&gt;</a:t>
            </a:r>
            <a:endParaRPr b="0" i="0" sz="12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6903720" y="1097280"/>
            <a:ext cx="155448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6F2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D0A0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6903720" y="1097280"/>
            <a:ext cx="1554480" cy="502920"/>
          </a:xfrm>
          <a:prstGeom prst="rect">
            <a:avLst/>
          </a:prstGeom>
          <a:solidFill>
            <a:srgbClr val="0D0A07"/>
          </a:solidFill>
          <a:ln cap="flat" cmpd="sng" w="12700">
            <a:solidFill>
              <a:srgbClr val="0D0A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6903720" y="109728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Outfi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Ashby</a:t>
            </a:r>
            <a:endParaRPr b="0" i="0" sz="13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6995160" y="182880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1100"/>
              <a:buFont typeface="Outfit"/>
              <a:buNone/>
            </a:pPr>
            <a:r>
              <a:rPr lang="en-US" sz="1100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 xml:space="preserve">Using API - </a:t>
            </a:r>
            <a:br>
              <a:rPr lang="en-US" sz="1100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b="0" i="0" lang="en-US" sz="110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Archives 1s &amp; 2s</a:t>
            </a:r>
            <a:endParaRPr b="0" i="0" sz="1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1100"/>
              <a:buFont typeface="Outfit"/>
              <a:buNone/>
            </a:pPr>
            <a:r>
              <a:rPr b="0" i="0" lang="en-US" sz="110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automatically</a:t>
            </a:r>
            <a:endParaRPr b="0" i="0" sz="1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457200" y="31546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D571C"/>
              </a:buClr>
              <a:buSzPts val="1300"/>
              <a:buFont typeface="Outfit"/>
              <a:buNone/>
            </a:pPr>
            <a:r>
              <a:rPr b="1" i="0" lang="en-US" sz="1300" u="none" cap="none" strike="noStrike">
                <a:solidFill>
                  <a:srgbClr val="FD571C"/>
                </a:solidFill>
                <a:latin typeface="Outfit"/>
                <a:ea typeface="Outfit"/>
                <a:cs typeface="Outfit"/>
                <a:sym typeface="Outfit"/>
              </a:rPr>
              <a:t>Result: 500 candidates screened in ~</a:t>
            </a:r>
            <a:r>
              <a:rPr b="1" lang="en-US" sz="1300">
                <a:solidFill>
                  <a:srgbClr val="FD571C"/>
                </a:solidFill>
                <a:latin typeface="Outfit"/>
                <a:ea typeface="Outfit"/>
                <a:cs typeface="Outfit"/>
                <a:sym typeface="Outfit"/>
              </a:rPr>
              <a:t>30</a:t>
            </a:r>
            <a:r>
              <a:rPr b="1" i="0" lang="en-US" sz="1300" u="none" cap="none" strike="noStrike">
                <a:solidFill>
                  <a:srgbClr val="FD571C"/>
                </a:solidFill>
                <a:latin typeface="Outfit"/>
                <a:ea typeface="Outfit"/>
                <a:cs typeface="Outfit"/>
                <a:sym typeface="Outfit"/>
              </a:rPr>
              <a:t xml:space="preserve"> minutes for ~$</a:t>
            </a:r>
            <a:r>
              <a:rPr b="1" lang="en-US" sz="1300">
                <a:solidFill>
                  <a:srgbClr val="FD571C"/>
                </a:solidFill>
                <a:latin typeface="Outfit"/>
                <a:ea typeface="Outfit"/>
                <a:cs typeface="Outfit"/>
                <a:sym typeface="Outfit"/>
              </a:rPr>
              <a:t>10-$20</a:t>
            </a:r>
            <a:endParaRPr b="0" i="0" sz="13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C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2600"/>
              <a:buFont typeface="Outfit"/>
              <a:buNone/>
            </a:pPr>
            <a:r>
              <a:rPr b="1" i="0" lang="en-US" sz="260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What You Need Before Starting</a:t>
            </a:r>
            <a:endParaRPr b="0" i="0" sz="26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57200" y="804672"/>
            <a:ext cx="1097280" cy="50292"/>
          </a:xfrm>
          <a:prstGeom prst="rect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411480" y="960120"/>
            <a:ext cx="3840480" cy="347472"/>
          </a:xfrm>
          <a:prstGeom prst="rect">
            <a:avLst/>
          </a:prstGeom>
          <a:solidFill>
            <a:srgbClr val="0D0A07"/>
          </a:solidFill>
          <a:ln cap="flat" cmpd="sng" w="12700">
            <a:solidFill>
              <a:srgbClr val="0D0A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411480" y="96012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TOOLS &amp; ACCESS</a:t>
            </a:r>
            <a:endParaRPr b="0" i="0" sz="1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57200" y="1444752"/>
            <a:ext cx="201168" cy="201168"/>
          </a:xfrm>
          <a:prstGeom prst="ellipse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457200" y="144475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utfit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731520" y="1431038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1100"/>
              <a:buFont typeface="Outfit"/>
              <a:buNone/>
            </a:pPr>
            <a:r>
              <a:rPr b="1" lang="en-US" sz="1100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API Keys</a:t>
            </a:r>
            <a:endParaRPr b="0" i="0" sz="1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57200" y="2130552"/>
            <a:ext cx="201168" cy="201168"/>
          </a:xfrm>
          <a:prstGeom prst="ellipse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731525" y="1669349"/>
            <a:ext cx="33834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950"/>
              <a:buFont typeface="Outfit"/>
              <a:buNone/>
            </a:pPr>
            <a:r>
              <a:rPr lang="en-US" sz="950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Claude - Contact IT (Neha / Lucas) for Anthropic API</a:t>
            </a:r>
            <a:endParaRPr sz="950">
              <a:solidFill>
                <a:srgbClr val="0D0A07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950"/>
              <a:buFont typeface="Outfit"/>
              <a:buNone/>
            </a:pPr>
            <a:r>
              <a:rPr lang="en-US" sz="950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Brainner - Lucas</a:t>
            </a:r>
            <a:br>
              <a:rPr lang="en-US" sz="950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lang="en-US" sz="950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 xml:space="preserve">Ashby - DIY: Ashby Settings </a:t>
            </a:r>
            <a:r>
              <a:rPr lang="en-US" sz="950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→ API Keys</a:t>
            </a:r>
            <a:endParaRPr sz="950">
              <a:solidFill>
                <a:srgbClr val="0D0A07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950"/>
              <a:buFont typeface="Outfit"/>
              <a:buNone/>
            </a:pPr>
            <a:r>
              <a:rPr lang="en-US" sz="950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endParaRPr sz="950">
              <a:solidFill>
                <a:srgbClr val="0D0A07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57200" y="2130552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utfit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57200" y="2816352"/>
            <a:ext cx="201168" cy="201168"/>
          </a:xfrm>
          <a:prstGeom prst="ellipse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457200" y="281635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utfit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457200" y="3502152"/>
            <a:ext cx="201168" cy="201168"/>
          </a:xfrm>
          <a:prstGeom prst="ellipse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457200" y="350215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utfit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640070" y="2116838"/>
            <a:ext cx="338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1100"/>
              <a:buFont typeface="Outfit"/>
              <a:buNone/>
            </a:pPr>
            <a:r>
              <a:rPr b="1" i="0" lang="en-US" sz="110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Node.js</a:t>
            </a:r>
            <a:endParaRPr b="0" i="0" sz="1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551295" y="2343457"/>
            <a:ext cx="3383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950"/>
              <a:buFont typeface="Outfit"/>
              <a:buNone/>
            </a:pPr>
            <a:r>
              <a:rPr b="0" i="0" lang="en-US" sz="95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Free download at nodejs.org — version 18+ recommended</a:t>
            </a:r>
            <a:endParaRPr b="0" i="0" sz="9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58495" y="3488438"/>
            <a:ext cx="338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1100"/>
              <a:buFont typeface="Outfit"/>
              <a:buNone/>
            </a:pPr>
            <a:r>
              <a:rPr b="1" i="0" lang="en-US" sz="110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The screener scripts</a:t>
            </a:r>
            <a:endParaRPr b="0" i="0" sz="1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611395" y="3607319"/>
            <a:ext cx="3383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950"/>
              <a:buFont typeface="Outfit"/>
              <a:buNone/>
            </a:pPr>
            <a:r>
              <a:rPr b="0" i="0" lang="en-US" sz="95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Shared folder on the recruiting drive</a:t>
            </a:r>
            <a:endParaRPr b="0" i="0" sz="9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663440" y="960120"/>
            <a:ext cx="4023360" cy="347472"/>
          </a:xfrm>
          <a:prstGeom prst="rect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4663440" y="960120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COST BREAKDOWN</a:t>
            </a:r>
            <a:endParaRPr b="0" i="0" sz="1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663440" y="1353312"/>
            <a:ext cx="4023360" cy="3337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6F2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D0A0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4800600" y="148132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1000"/>
              <a:buFont typeface="Outfit"/>
              <a:buNone/>
            </a:pPr>
            <a:r>
              <a:rPr b="0" i="0" lang="en-US" sz="100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Claude API (per 100 resumes)</a:t>
            </a:r>
            <a:endParaRPr b="0" i="0" sz="1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7223760" y="1481328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D571C"/>
              </a:buClr>
              <a:buSzPts val="1000"/>
              <a:buFont typeface="Outfit"/>
              <a:buNone/>
            </a:pPr>
            <a:r>
              <a:rPr b="1" i="0" lang="en-US" sz="1000" u="none" cap="none" strike="noStrike">
                <a:solidFill>
                  <a:srgbClr val="FD571C"/>
                </a:solidFill>
                <a:latin typeface="Outfit"/>
                <a:ea typeface="Outfit"/>
                <a:cs typeface="Outfit"/>
                <a:sym typeface="Outfit"/>
              </a:rPr>
              <a:t>~$3–4</a:t>
            </a:r>
            <a:endParaRPr b="0" i="0" sz="1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9" name="Google Shape;69;p4"/>
          <p:cNvCxnSpPr/>
          <p:nvPr/>
        </p:nvCxnSpPr>
        <p:spPr>
          <a:xfrm>
            <a:off x="4800600" y="1792224"/>
            <a:ext cx="3566160" cy="0"/>
          </a:xfrm>
          <a:prstGeom prst="straightConnector1">
            <a:avLst/>
          </a:prstGeom>
          <a:noFill/>
          <a:ln cap="flat" cmpd="sng" w="9525">
            <a:solidFill>
              <a:srgbClr val="F6F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" name="Google Shape;70;p4"/>
          <p:cNvSpPr/>
          <p:nvPr/>
        </p:nvSpPr>
        <p:spPr>
          <a:xfrm>
            <a:off x="4800600" y="199339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1000"/>
              <a:buFont typeface="Outfit"/>
              <a:buNone/>
            </a:pPr>
            <a:r>
              <a:rPr b="0" i="0" lang="en-US" sz="100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Claude API (per 500 resumes)</a:t>
            </a:r>
            <a:endParaRPr b="0" i="0" sz="1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7223760" y="1993392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D571C"/>
              </a:buClr>
              <a:buSzPts val="1000"/>
              <a:buFont typeface="Outfit"/>
              <a:buNone/>
            </a:pPr>
            <a:r>
              <a:rPr b="1" i="0" lang="en-US" sz="1000" u="none" cap="none" strike="noStrike">
                <a:solidFill>
                  <a:srgbClr val="FD571C"/>
                </a:solidFill>
                <a:latin typeface="Outfit"/>
                <a:ea typeface="Outfit"/>
                <a:cs typeface="Outfit"/>
                <a:sym typeface="Outfit"/>
              </a:rPr>
              <a:t>~$15–20</a:t>
            </a:r>
            <a:endParaRPr b="0" i="0" sz="1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72" name="Google Shape;72;p4"/>
          <p:cNvCxnSpPr/>
          <p:nvPr/>
        </p:nvCxnSpPr>
        <p:spPr>
          <a:xfrm>
            <a:off x="4800600" y="2304288"/>
            <a:ext cx="3566160" cy="0"/>
          </a:xfrm>
          <a:prstGeom prst="straightConnector1">
            <a:avLst/>
          </a:prstGeom>
          <a:noFill/>
          <a:ln cap="flat" cmpd="sng" w="9525">
            <a:solidFill>
              <a:srgbClr val="F6F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4"/>
          <p:cNvSpPr/>
          <p:nvPr/>
        </p:nvSpPr>
        <p:spPr>
          <a:xfrm>
            <a:off x="4800600" y="2505456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1000"/>
              <a:buFont typeface="Outfit"/>
              <a:buNone/>
            </a:pPr>
            <a:r>
              <a:rPr b="0" i="0" lang="en-US" sz="100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Claude API (per 1,000 resumes)</a:t>
            </a:r>
            <a:endParaRPr b="0" i="0" sz="1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7223760" y="2505456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D571C"/>
              </a:buClr>
              <a:buSzPts val="1000"/>
              <a:buFont typeface="Outfit"/>
              <a:buNone/>
            </a:pPr>
            <a:r>
              <a:rPr b="1" i="0" lang="en-US" sz="1000" u="none" cap="none" strike="noStrike">
                <a:solidFill>
                  <a:srgbClr val="FD571C"/>
                </a:solidFill>
                <a:latin typeface="Outfit"/>
                <a:ea typeface="Outfit"/>
                <a:cs typeface="Outfit"/>
                <a:sym typeface="Outfit"/>
              </a:rPr>
              <a:t>~$30–35</a:t>
            </a:r>
            <a:endParaRPr b="0" i="0" sz="1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75" name="Google Shape;75;p4"/>
          <p:cNvCxnSpPr/>
          <p:nvPr/>
        </p:nvCxnSpPr>
        <p:spPr>
          <a:xfrm>
            <a:off x="4800600" y="2816352"/>
            <a:ext cx="3566160" cy="0"/>
          </a:xfrm>
          <a:prstGeom prst="straightConnector1">
            <a:avLst/>
          </a:prstGeom>
          <a:noFill/>
          <a:ln cap="flat" cmpd="sng" w="9525">
            <a:solidFill>
              <a:srgbClr val="F6F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4"/>
          <p:cNvSpPr/>
          <p:nvPr/>
        </p:nvSpPr>
        <p:spPr>
          <a:xfrm>
            <a:off x="4800600" y="30175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1000"/>
              <a:buFont typeface="Outfit"/>
              <a:buNone/>
            </a:pPr>
            <a:r>
              <a:rPr b="0" i="0" lang="en-US" sz="100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Brainner API</a:t>
            </a:r>
            <a:endParaRPr b="0" i="0" sz="1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7223760" y="3017520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D571C"/>
              </a:buClr>
              <a:buSzPts val="1000"/>
              <a:buFont typeface="Outfit"/>
              <a:buNone/>
            </a:pPr>
            <a:r>
              <a:rPr b="1" i="0" lang="en-US" sz="1000" u="none" cap="none" strike="noStrike">
                <a:solidFill>
                  <a:srgbClr val="FD571C"/>
                </a:solidFill>
                <a:latin typeface="Outfit"/>
                <a:ea typeface="Outfit"/>
                <a:cs typeface="Outfit"/>
                <a:sym typeface="Outfit"/>
              </a:rPr>
              <a:t>FREE (included in subscription)</a:t>
            </a:r>
            <a:endParaRPr b="0" i="0" sz="1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78" name="Google Shape;78;p4"/>
          <p:cNvCxnSpPr/>
          <p:nvPr/>
        </p:nvCxnSpPr>
        <p:spPr>
          <a:xfrm>
            <a:off x="4800600" y="3328416"/>
            <a:ext cx="3566160" cy="0"/>
          </a:xfrm>
          <a:prstGeom prst="straightConnector1">
            <a:avLst/>
          </a:prstGeom>
          <a:noFill/>
          <a:ln cap="flat" cmpd="sng" w="9525">
            <a:solidFill>
              <a:srgbClr val="F6F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" name="Google Shape;79;p4"/>
          <p:cNvSpPr/>
          <p:nvPr/>
        </p:nvSpPr>
        <p:spPr>
          <a:xfrm>
            <a:off x="4800600" y="352958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1000"/>
              <a:buFont typeface="Outfit"/>
              <a:buNone/>
            </a:pPr>
            <a:r>
              <a:rPr b="0" i="0" lang="en-US" sz="100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Ashby API</a:t>
            </a:r>
            <a:endParaRPr b="0" i="0" sz="1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7223760" y="3529584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D571C"/>
              </a:buClr>
              <a:buSzPts val="1000"/>
              <a:buFont typeface="Outfit"/>
              <a:buNone/>
            </a:pPr>
            <a:r>
              <a:rPr b="1" i="0" lang="en-US" sz="1000" u="none" cap="none" strike="noStrike">
                <a:solidFill>
                  <a:srgbClr val="FD571C"/>
                </a:solidFill>
                <a:latin typeface="Outfit"/>
                <a:ea typeface="Outfit"/>
                <a:cs typeface="Outfit"/>
                <a:sym typeface="Outfit"/>
              </a:rPr>
              <a:t>FREE (included in subscription)</a:t>
            </a:r>
            <a:endParaRPr b="0" i="0" sz="1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81" name="Google Shape;81;p4"/>
          <p:cNvCxnSpPr/>
          <p:nvPr/>
        </p:nvCxnSpPr>
        <p:spPr>
          <a:xfrm>
            <a:off x="4800600" y="3840480"/>
            <a:ext cx="3566160" cy="0"/>
          </a:xfrm>
          <a:prstGeom prst="straightConnector1">
            <a:avLst/>
          </a:prstGeom>
          <a:noFill/>
          <a:ln cap="flat" cmpd="sng" w="9525">
            <a:solidFill>
              <a:srgbClr val="F6F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4"/>
          <p:cNvSpPr/>
          <p:nvPr/>
        </p:nvSpPr>
        <p:spPr>
          <a:xfrm>
            <a:off x="4800600" y="404164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1000"/>
              <a:buFont typeface="Outfit"/>
              <a:buNone/>
            </a:pPr>
            <a:r>
              <a:rPr b="0" i="0" lang="en-US" sz="100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Node.js</a:t>
            </a:r>
            <a:endParaRPr b="0" i="0" sz="1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223760" y="4041648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D571C"/>
              </a:buClr>
              <a:buSzPts val="1000"/>
              <a:buFont typeface="Outfit"/>
              <a:buNone/>
            </a:pPr>
            <a:r>
              <a:rPr b="1" i="0" lang="en-US" sz="1000" u="none" cap="none" strike="noStrike">
                <a:solidFill>
                  <a:srgbClr val="FD571C"/>
                </a:solidFill>
                <a:latin typeface="Outfit"/>
                <a:ea typeface="Outfit"/>
                <a:cs typeface="Outfit"/>
                <a:sym typeface="Outfit"/>
              </a:rPr>
              <a:t>FREE</a:t>
            </a:r>
            <a:endParaRPr b="0" i="0" sz="1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685695" y="2802638"/>
            <a:ext cx="338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1100"/>
              <a:buFont typeface="Outfit"/>
              <a:buNone/>
            </a:pPr>
            <a:r>
              <a:rPr b="1" lang="en-US" sz="1100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Claude Desktop Version</a:t>
            </a:r>
            <a:endParaRPr b="0" i="0" sz="1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640008" y="2975394"/>
            <a:ext cx="3383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950"/>
              <a:buFont typeface="Outfit"/>
              <a:buNone/>
            </a:pPr>
            <a:r>
              <a:rPr lang="en-US" sz="950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Cowork for Automagic resume screening</a:t>
            </a:r>
            <a:endParaRPr b="0" i="0" sz="9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C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2600"/>
              <a:buFont typeface="Outfit"/>
              <a:buNone/>
            </a:pPr>
            <a:r>
              <a:rPr b="1" i="0" lang="en-US" sz="260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Step 1 — Write &amp; Calibrate Your Criteria</a:t>
            </a:r>
            <a:endParaRPr b="0" i="0" sz="26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57200" y="804672"/>
            <a:ext cx="1097280" cy="50292"/>
          </a:xfrm>
          <a:prstGeom prst="rect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411480" y="960120"/>
            <a:ext cx="4114800" cy="3931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6F2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D0A0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411480" y="960120"/>
            <a:ext cx="4114800" cy="411480"/>
          </a:xfrm>
          <a:prstGeom prst="rect">
            <a:avLst/>
          </a:prstGeom>
          <a:solidFill>
            <a:srgbClr val="0D0A07"/>
          </a:solidFill>
          <a:ln cap="flat" cmpd="sng" w="12700">
            <a:solidFill>
              <a:srgbClr val="0D0A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411480" y="96012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HOW TO BUILD YOUR CRITERIA</a:t>
            </a:r>
            <a:endParaRPr b="0" i="0" sz="1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594360" y="1463040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571C"/>
              </a:buClr>
              <a:buSzPts val="1050"/>
              <a:buFont typeface="Outfit"/>
              <a:buNone/>
            </a:pPr>
            <a:r>
              <a:rPr b="1" i="0" lang="en-US" sz="1050" u="none" cap="none" strike="noStrike">
                <a:solidFill>
                  <a:srgbClr val="FD571C"/>
                </a:solidFill>
                <a:latin typeface="Outfit"/>
                <a:ea typeface="Outfit"/>
                <a:cs typeface="Outfit"/>
                <a:sym typeface="Outfit"/>
              </a:rPr>
              <a:t>1. Start with the JD</a:t>
            </a:r>
            <a:endParaRPr b="0" i="0" sz="10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594360" y="169164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950"/>
              <a:buFont typeface="Outfit"/>
              <a:buNone/>
            </a:pPr>
            <a:r>
              <a:rPr b="0" i="0" lang="en-US" sz="95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Pull the must-haves and nice-to-haves. Write them as gates — things the candidate must pass, not just have. Describe areas that are gray</a:t>
            </a:r>
            <a:endParaRPr b="0" i="0" sz="9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594360" y="2130552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571C"/>
              </a:buClr>
              <a:buSzPts val="1050"/>
              <a:buFont typeface="Outfit"/>
              <a:buNone/>
            </a:pPr>
            <a:r>
              <a:rPr b="1" i="0" lang="en-US" sz="1050" u="none" cap="none" strike="noStrike">
                <a:solidFill>
                  <a:srgbClr val="FD571C"/>
                </a:solidFill>
                <a:latin typeface="Outfit"/>
                <a:ea typeface="Outfit"/>
                <a:cs typeface="Outfit"/>
                <a:sym typeface="Outfit"/>
              </a:rPr>
              <a:t>2. Rate real candidates first</a:t>
            </a:r>
            <a:endParaRPr b="0" i="0" sz="10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594360" y="2359152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950"/>
              <a:buFont typeface="Outfit"/>
              <a:buNone/>
            </a:pPr>
            <a:r>
              <a:rPr b="0" i="0" lang="en-US" sz="95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 xml:space="preserve">Before running the script, manually score 5–10 candidates with the HM. Note what passed and what didn't. </a:t>
            </a:r>
            <a:endParaRPr b="0" i="0" sz="9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594360" y="2798064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571C"/>
              </a:buClr>
              <a:buSzPts val="1050"/>
              <a:buFont typeface="Outfit"/>
              <a:buNone/>
            </a:pPr>
            <a:r>
              <a:rPr b="1" i="0" lang="en-US" sz="1050" u="none" cap="none" strike="noStrike">
                <a:solidFill>
                  <a:srgbClr val="FD571C"/>
                </a:solidFill>
                <a:latin typeface="Outfit"/>
                <a:ea typeface="Outfit"/>
                <a:cs typeface="Outfit"/>
                <a:sym typeface="Outfit"/>
              </a:rPr>
              <a:t>3. Add calibration examples</a:t>
            </a:r>
            <a:endParaRPr b="0" i="0" sz="10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594360" y="3026664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950"/>
              <a:buFont typeface="Outfit"/>
              <a:buNone/>
            </a:pPr>
            <a:r>
              <a:rPr b="0" i="0" lang="en-US" sz="95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Add 3–5 real scored candidates into your criteria as examples (</a:t>
            </a:r>
            <a:r>
              <a:rPr lang="en-US" sz="950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resume</a:t>
            </a:r>
            <a:r>
              <a:rPr b="0" i="0" lang="en-US" sz="95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, why they passed or failed).</a:t>
            </a:r>
            <a:endParaRPr b="0" i="0" sz="9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594360" y="3465576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571C"/>
              </a:buClr>
              <a:buSzPts val="1050"/>
              <a:buFont typeface="Outfit"/>
              <a:buNone/>
            </a:pPr>
            <a:r>
              <a:rPr b="1" i="0" lang="en-US" sz="1050" u="none" cap="none" strike="noStrike">
                <a:solidFill>
                  <a:srgbClr val="FD571C"/>
                </a:solidFill>
                <a:latin typeface="Outfit"/>
                <a:ea typeface="Outfit"/>
                <a:cs typeface="Outfit"/>
                <a:sym typeface="Outfit"/>
              </a:rPr>
              <a:t>4. Define score 1–4 clearly</a:t>
            </a:r>
            <a:endParaRPr b="0" i="0" sz="10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594360" y="3694176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950"/>
              <a:buFont typeface="Outfit"/>
              <a:buNone/>
            </a:pPr>
            <a:r>
              <a:rPr b="0" i="0" lang="en-US" sz="95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1 = hard no. 2 = no (archive). 3 = borderline / probe. 4 = strong yes. Be specific about what earns each score.</a:t>
            </a:r>
            <a:endParaRPr b="0" i="0" sz="9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594360" y="4133088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571C"/>
              </a:buClr>
              <a:buSzPts val="1050"/>
              <a:buFont typeface="Outfit"/>
              <a:buNone/>
            </a:pPr>
            <a:r>
              <a:rPr b="1" i="0" lang="en-US" sz="1050" u="none" cap="none" strike="noStrike">
                <a:solidFill>
                  <a:srgbClr val="FD571C"/>
                </a:solidFill>
                <a:latin typeface="Outfit"/>
                <a:ea typeface="Outfit"/>
                <a:cs typeface="Outfit"/>
                <a:sym typeface="Outfit"/>
              </a:rPr>
              <a:t>5. Iterate after each run</a:t>
            </a:r>
            <a:endParaRPr b="0" i="0" sz="10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594360" y="436168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950"/>
              <a:buFont typeface="Outfit"/>
              <a:buNone/>
            </a:pPr>
            <a:r>
              <a:rPr b="0" i="0" lang="en-US" sz="95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 xml:space="preserve">Review where Claude got it wrong. Update the criteria. </a:t>
            </a:r>
            <a:r>
              <a:rPr lang="en-US" sz="950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2 - 3</a:t>
            </a:r>
            <a:r>
              <a:rPr b="0" i="0" lang="en-US" sz="95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 xml:space="preserve"> rounds of calibration usually locks it in.</a:t>
            </a:r>
            <a:endParaRPr b="0" i="0" sz="9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4800600" y="960120"/>
            <a:ext cx="3931920" cy="3931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6F2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D0A0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4800600" y="960120"/>
            <a:ext cx="3931920" cy="411480"/>
          </a:xfrm>
          <a:prstGeom prst="rect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4800600" y="96012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EXAMPLE: 4-GATE STRUCTURE</a:t>
            </a:r>
            <a:endParaRPr b="0" i="0" sz="1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846320" y="1463040"/>
            <a:ext cx="54864" cy="658368"/>
          </a:xfrm>
          <a:prstGeom prst="rect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4983480" y="1490472"/>
            <a:ext cx="3611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1000"/>
              <a:buFont typeface="Outfit"/>
              <a:buNone/>
            </a:pPr>
            <a:r>
              <a:rPr b="1" i="0" lang="en-US" sz="100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Gate 1: Company/Industry</a:t>
            </a:r>
            <a:endParaRPr b="0" i="0" sz="1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983480" y="1719072"/>
            <a:ext cx="3611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950"/>
              <a:buFont typeface="Outfit"/>
              <a:buNone/>
            </a:pPr>
            <a:r>
              <a:rPr b="0" i="0" lang="en-US" sz="95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Is the candidate from a tech or tech-adjacent company? Filters out manufacturing, government, legacy enterprise.</a:t>
            </a:r>
            <a:endParaRPr b="0" i="0" sz="9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4846320" y="2304288"/>
            <a:ext cx="54864" cy="658368"/>
          </a:xfrm>
          <a:prstGeom prst="rect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4983480" y="2331720"/>
            <a:ext cx="3611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1000"/>
              <a:buFont typeface="Outfit"/>
              <a:buNone/>
            </a:pPr>
            <a:r>
              <a:rPr b="1" i="0" lang="en-US" sz="100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Gate 2: AI Requirement</a:t>
            </a:r>
            <a:endParaRPr b="0" i="0" sz="1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983480" y="2560320"/>
            <a:ext cx="3611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950"/>
              <a:buFont typeface="Outfit"/>
              <a:buNone/>
            </a:pPr>
            <a:r>
              <a:rPr b="0" i="0" lang="en-US" sz="95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Any hands-on AI signal in their work — not just 'AI' in the skills section. Must appear in a role description.</a:t>
            </a:r>
            <a:endParaRPr b="0" i="0" sz="9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846320" y="3145536"/>
            <a:ext cx="54864" cy="658368"/>
          </a:xfrm>
          <a:prstGeom prst="rect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4983480" y="3172968"/>
            <a:ext cx="3611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1000"/>
              <a:buFont typeface="Outfit"/>
              <a:buNone/>
            </a:pPr>
            <a:r>
              <a:rPr b="1" i="0" lang="en-US" sz="100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Gate 3: Strategic Level</a:t>
            </a:r>
            <a:endParaRPr b="0" i="0" sz="1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983480" y="3401568"/>
            <a:ext cx="3611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950"/>
              <a:buFont typeface="Outfit"/>
              <a:buNone/>
            </a:pPr>
            <a:r>
              <a:rPr b="0" i="0" lang="en-US" sz="95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Do they own programs and influence senior leaders? Analysts and coordinators are a hard no.</a:t>
            </a:r>
            <a:endParaRPr b="0" i="0" sz="9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4846320" y="3986784"/>
            <a:ext cx="54864" cy="658368"/>
          </a:xfrm>
          <a:prstGeom prst="rect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4983480" y="4014216"/>
            <a:ext cx="3611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1000"/>
              <a:buFont typeface="Outfit"/>
              <a:buNone/>
            </a:pPr>
            <a:r>
              <a:rPr b="1" i="0" lang="en-US" sz="100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Gate 4: Ops Type</a:t>
            </a:r>
            <a:endParaRPr b="0" i="0" sz="1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983480" y="4242816"/>
            <a:ext cx="3611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950"/>
              <a:buFont typeface="Outfit"/>
              <a:buNone/>
            </a:pPr>
            <a:r>
              <a:rPr b="0" i="0" lang="en-US" sz="95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Is their ops experience product/engineering ops — not IT, finance/AP, or compliance ops?</a:t>
            </a:r>
            <a:endParaRPr b="0" i="0" sz="9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C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2600"/>
              <a:buFont typeface="Outfit"/>
              <a:buNone/>
            </a:pPr>
            <a:r>
              <a:rPr b="1" i="0" lang="en-US" sz="260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 xml:space="preserve">Step 2 — </a:t>
            </a:r>
            <a:r>
              <a:rPr b="1" lang="en-US" sz="2600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Prompt your Script</a:t>
            </a:r>
            <a:endParaRPr b="0" i="0" sz="26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457200" y="804672"/>
            <a:ext cx="1097280" cy="50292"/>
          </a:xfrm>
          <a:prstGeom prst="rect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411480" y="1005840"/>
            <a:ext cx="832104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6F2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D0A0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411480" y="1005840"/>
            <a:ext cx="64008" cy="1097280"/>
          </a:xfrm>
          <a:prstGeom prst="rect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594360" y="1115568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1200"/>
              <a:buFont typeface="Outfit"/>
              <a:buNone/>
            </a:pPr>
            <a:r>
              <a:rPr b="1" lang="en-US" sz="1200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Folder with Prompts</a:t>
            </a:r>
            <a:endParaRPr b="0" i="0" sz="12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594360" y="1463040"/>
            <a:ext cx="7863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Screener will pull from Brainner &gt; Sort by Score &gt; Assess based on Claude Criteria &gt; Result in a Score</a:t>
            </a:r>
            <a:endParaRPr b="0" i="0" sz="10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11480" y="2304288"/>
            <a:ext cx="832104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6F2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D0A0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411480" y="2304288"/>
            <a:ext cx="64008" cy="1097280"/>
          </a:xfrm>
          <a:prstGeom prst="rect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411480" y="3602736"/>
            <a:ext cx="832104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6F2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D0A0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411480" y="3602736"/>
            <a:ext cx="64008" cy="1097280"/>
          </a:xfrm>
          <a:prstGeom prst="rect">
            <a:avLst/>
          </a:prstGeom>
          <a:solidFill>
            <a:srgbClr val="0D0A07"/>
          </a:solidFill>
          <a:ln cap="flat" cmpd="sng" w="12700">
            <a:solidFill>
              <a:srgbClr val="0D0A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411480" y="4681728"/>
            <a:ext cx="83210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571C"/>
              </a:buClr>
              <a:buSzPts val="950"/>
              <a:buFont typeface="Outfit"/>
              <a:buNone/>
            </a:pPr>
            <a:r>
              <a:rPr b="0" i="1" lang="en-US" sz="950" u="none" cap="none" strike="noStrike">
                <a:solidFill>
                  <a:srgbClr val="FD571C"/>
                </a:solidFill>
                <a:latin typeface="Outfit"/>
                <a:ea typeface="Outfit"/>
                <a:cs typeface="Outfit"/>
                <a:sym typeface="Outfit"/>
              </a:rPr>
              <a:t>Pro tip: Run count-tpm-scores.js first to see the Brainner score distribution before committing to a full run.</a:t>
            </a:r>
            <a:endParaRPr b="0" i="0" sz="9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0" name="Box2Header"/>
          <p:cNvSpPr>
            <a:spLocks noGrp="1"/>
          </p:cNvSpPr>
          <p:nvPr/>
        </p:nvSpPr>
        <p:spPr>
          <a:xfrm>
            <a:off x="594360" y="2414016"/>
            <a:ext cx="7863840" cy="228600"/>
          </a:xfrm>
          <a:prstGeom prst="rect">
            <a:avLst/>
          </a:prstGeom>
          <a:noFill/>
        </p:spPr>
        <p:txBody>
          <a:bodyPr anchor="ctr"/>
          <a:lstStyle/>
          <a:p>
            <a:pPr>
              <a:spcBef>
                <a:spcPts val="0"/>
              </a:spcBef>
            </a:pPr>
            <a:r>
              <a:rPr lang="en-US" sz="1600" b="1" dirty="0">
                <a:solidFill>
                  <a:srgbClr val="0D0A07"/>
                </a:solidFill>
                <a:latin typeface="Outfit"/>
              </a:rPr>
              <a:t>Sample Criteria Prompt Structure</a:t>
            </a:r>
          </a:p>
        </p:txBody>
      </p:sp>
      <p:sp>
        <p:nvSpPr>
          <p:cNvPr id="201" name="Box2Body"/>
          <p:cNvSpPr>
            <a:spLocks noGrp="1"/>
          </p:cNvSpPr>
          <p:nvPr/>
        </p:nvSpPr>
        <p:spPr>
          <a:xfrm>
            <a:off x="594360" y="2661768"/>
            <a:ext cx="7863840" cy="530352"/>
          </a:xfrm>
          <a:prstGeom prst="rect">
            <a:avLst/>
          </a:prstGeom>
          <a:noFill/>
        </p:spPr>
        <p:txBody>
          <a:bodyPr anchor="t"/>
          <a:lstStyle/>
          <a:p>
            <a:pPr>
              <a:spcBef>
                <a:spcPts val="0"/>
              </a:spcBef>
            </a:pPr>
            <a:r>
              <a:rPr lang="en-US" sz="1100" b="0" dirty="0" i="0">
                <a:solidFill>
                  <a:srgbClr val="0D0A07"/>
                </a:solidFill>
                <a:latin typeface="Outfit"/>
              </a:rPr>
              <a:t>You are an expert recruiter screening candidates for [ROLE] at [COMPANY]. Score each candidate 1-4 based on:</a:t>
            </a:r>
          </a:p>
          <a:p>
            <a:pPr>
              <a:spcBef>
                <a:spcPts val="200"/>
              </a:spcBef>
            </a:pPr>
            <a:r>
              <a:rPr lang="en-US" sz="1100" b="1" dirty="0">
                <a:solidFill>
                  <a:srgbClr val="FD571C"/>
                </a:solidFill>
                <a:latin typeface="Outfit"/>
              </a:rPr>
              <a:t>Gate 1:</a:t>
            </a:r>
            <a:r>
              <a:rPr lang="en-US" sz="1100" b="0" dirty="0">
                <a:solidFill>
                  <a:srgbClr val="0D0A07"/>
                </a:solidFill>
                <a:latin typeface="Outfit"/>
              </a:rPr>
              <a:t xml:space="preserve"> [Must-have requirement] • </a:t>
            </a:r>
            <a:r>
              <a:rPr lang="en-US" sz="1100" b="1" dirty="0">
                <a:solidFill>
                  <a:srgbClr val="FD571C"/>
                </a:solidFill>
                <a:latin typeface="Outfit"/>
              </a:rPr>
              <a:t>Gate 2:</a:t>
            </a:r>
            <a:r>
              <a:rPr lang="en-US" sz="1100" b="0" dirty="0">
                <a:solidFill>
                  <a:srgbClr val="0D0A07"/>
                </a:solidFill>
                <a:latin typeface="Outfit"/>
              </a:rPr>
              <a:t xml:space="preserve"> [Domain requirement] • </a:t>
            </a:r>
            <a:r>
              <a:rPr lang="en-US" sz="1100" b="1" dirty="0">
                <a:solidFill>
                  <a:srgbClr val="FD571C"/>
                </a:solidFill>
                <a:latin typeface="Outfit"/>
              </a:rPr>
              <a:t>Gate 3:</a:t>
            </a:r>
            <a:r>
              <a:rPr lang="en-US" sz="1100" b="0" dirty="0">
                <a:solidFill>
                  <a:srgbClr val="0D0A07"/>
                </a:solidFill>
                <a:latin typeface="Outfit"/>
              </a:rPr>
              <a:t xml:space="preserve"> [Seniority/impact requirement] • </a:t>
            </a:r>
            <a:r>
              <a:rPr lang="en-US" sz="1100" b="1" dirty="0">
                <a:solidFill>
                  <a:srgbClr val="FD571C"/>
                </a:solidFill>
                <a:latin typeface="Outfit"/>
              </a:rPr>
              <a:t>Gate 4:</a:t>
            </a:r>
            <a:r>
              <a:rPr lang="en-US" sz="1100" b="0" dirty="0">
                <a:solidFill>
                  <a:srgbClr val="0D0A07"/>
                </a:solidFill>
                <a:latin typeface="Outfit"/>
              </a:rPr>
              <a:t xml:space="preserve"> [Role-specific requirement]</a:t>
            </a:r>
          </a:p>
        </p:txBody>
      </p:sp>
      <p:sp>
        <p:nvSpPr>
          <p:cNvPr id="202" name="Box3Header"/>
          <p:cNvSpPr>
            <a:spLocks noGrp="1"/>
          </p:cNvSpPr>
          <p:nvPr/>
        </p:nvSpPr>
        <p:spPr>
          <a:xfrm>
            <a:off x="594360" y="3712464"/>
            <a:ext cx="7863840" cy="228600"/>
          </a:xfrm>
          <a:prstGeom prst="rect">
            <a:avLst/>
          </a:prstGeom>
          <a:noFill/>
        </p:spPr>
        <p:txBody>
          <a:bodyPr anchor="ctr"/>
          <a:lstStyle/>
          <a:p>
            <a:pPr>
              <a:spcBef>
                <a:spcPts val="0"/>
              </a:spcBef>
            </a:pPr>
            <a:r>
              <a:rPr lang="en-US" sz="1600" b="1" dirty="0">
                <a:solidFill>
                  <a:srgbClr val="0D0A07"/>
                </a:solidFill>
                <a:latin typeface="Outfit"/>
              </a:rPr>
              <a:t>How to Run It</a:t>
            </a:r>
          </a:p>
        </p:txBody>
      </p:sp>
      <p:sp>
        <p:nvSpPr>
          <p:cNvPr id="203" name="Box3Body"/>
          <p:cNvSpPr>
            <a:spLocks noGrp="1"/>
          </p:cNvSpPr>
          <p:nvPr/>
        </p:nvSpPr>
        <p:spPr>
          <a:xfrm>
            <a:off x="594360" y="3960216"/>
            <a:ext cx="7863840" cy="530352"/>
          </a:xfrm>
          <a:prstGeom prst="rect">
            <a:avLst/>
          </a:prstGeom>
          <a:noFill/>
        </p:spPr>
        <p:txBody>
          <a:bodyPr anchor="t"/>
          <a:lstStyle/>
          <a:p>
            <a:pPr>
              <a:spcBef>
                <a:spcPts val="0"/>
              </a:spcBef>
            </a:pPr>
            <a:r>
              <a:rPr lang="en-US" sz="1100" b="0" dirty="0">
                <a:solidFill>
                  <a:srgbClr val="0D0A07"/>
                </a:solidFill>
                <a:latin typeface="Outfit"/>
              </a:rPr>
              <a:t>Open Terminal and navigate to your screener folder, then run the script for your role:</a:t>
            </a:r>
          </a:p>
          <a:p>
            <a:pPr>
              <a:spcBef>
                <a:spcPts val="300"/>
              </a:spcBef>
            </a:pPr>
            <a:r>
              <a:rPr lang="en-US" sz="1200" b="1" dirty="0">
                <a:solidFill>
                  <a:srgbClr val="0D0A07"/>
                </a:solidFill>
                <a:latin typeface="Consolas"/>
              </a:rPr>
              <a:t>cd ~/Desktop/ashby-screener</a:t>
            </a:r>
          </a:p>
          <a:p>
            <a:pPr>
              <a:spcBef>
                <a:spcPts val="100"/>
              </a:spcBef>
            </a:pPr>
            <a:r>
              <a:rPr lang="en-US" sz="1200" b="1" dirty="0">
                <a:solidFill>
                  <a:srgbClr val="FD571C"/>
                </a:solidFill>
                <a:latin typeface="Consolas"/>
              </a:rPr>
              <a:t>node screen-[role].js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C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2600"/>
              <a:buFont typeface="Outfit"/>
              <a:buNone/>
            </a:pPr>
            <a:r>
              <a:rPr b="1" i="0" lang="en-US" sz="260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The Scoring System</a:t>
            </a:r>
            <a:endParaRPr b="0" i="0" sz="26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457200" y="804672"/>
            <a:ext cx="1097280" cy="50292"/>
          </a:xfrm>
          <a:prstGeom prst="rect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ScoringCard"/>
          <p:cNvSpPr>
            <a:spLocks noGrp="1"/>
          </p:cNvSpPr>
          <p:nvPr/>
        </p:nvSpPr>
        <p:spPr>
          <a:xfrm>
            <a:off x="365760" y="1143000"/>
            <a:ext cx="8412480" cy="3200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" name="Google Shape;144;p7"/>
          <p:cNvSpPr txBox="1"/>
          <p:nvPr/>
        </p:nvSpPr>
        <p:spPr>
          <a:xfrm>
            <a:off x="365760" y="1143000"/>
            <a:ext cx="8412480" cy="3200400"/>
          </a:xfrm>
          <a:prstGeom prst="rect">
            <a:avLst/>
          </a:prstGeom>
          <a:noFill/>
          <a:ln>
            <a:noFill/>
          </a:ln>
        </p:spPr>
        <p:txBody>
          <a:bodyPr marL="457200" marR="457200" marT="457200" marB="457200" anchor="t" wrap="square"/>
          <a:lstStyle/>
          <a:p>
            <a:pPr>
              <a:spcBef>
                <a:spcPts val="0"/>
              </a:spcBef>
            </a:pPr>
            <a:r>
              <a:rPr lang="en-US" sz="1600" b="1" dirty="0">
                <a:solidFill>
                  <a:srgbClr val="0D0A07"/>
                </a:solidFill>
                <a:latin typeface="Outfit"/>
              </a:rPr>
              <a:t>You determine the scoring scale.</a:t>
            </a:r>
          </a:p>
          <a:p>
            <a:pPr>
              <a:spcBef>
                <a:spcPts val="400"/>
              </a:spcBef>
            </a:pPr>
            <a:r>
              <a:rPr lang="en-US" sz="1400" b="0" dirty="0">
                <a:solidFill>
                  <a:srgbClr val="0D0A07"/>
                </a:solidFill>
                <a:latin typeface="Outfit"/>
              </a:rPr>
              <a:t>HM uses a weighted scale with percentages • I use 1–4 reflective of Ashby scoring (depends on role / resume quantity)</a:t>
            </a:r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rgbClr val="FD571C"/>
                </a:solidFill>
                <a:latin typeface="Outfit"/>
              </a:rPr>
              <a:t>Score 1</a:t>
            </a:r>
            <a:r>
              <a:rPr lang="en-US" sz="1400" b="0" dirty="0">
                <a:solidFill>
                  <a:srgbClr val="0D0A07"/>
                </a:solidFill>
                <a:latin typeface="Outfit"/>
              </a:rPr>
              <a:t xml:space="preserve">  Hard no — do not move forward</a:t>
            </a:r>
          </a:p>
          <a:p>
            <a:pPr>
              <a:spcBef>
                <a:spcPts val="300"/>
              </a:spcBef>
            </a:pPr>
            <a:r>
              <a:rPr lang="en-US" sz="1600" b="1" dirty="0">
                <a:solidFill>
                  <a:srgbClr val="FD571C"/>
                </a:solidFill>
                <a:latin typeface="Outfit"/>
              </a:rPr>
              <a:t>Score 2</a:t>
            </a:r>
            <a:r>
              <a:rPr lang="en-US" sz="1400" b="0" dirty="0">
                <a:solidFill>
                  <a:srgbClr val="0D0A07"/>
                </a:solidFill>
                <a:latin typeface="Outfit"/>
              </a:rPr>
              <a:t xml:space="preserve">  No — archive in Ashby after the run</a:t>
            </a:r>
          </a:p>
          <a:p>
            <a:pPr>
              <a:spcBef>
                <a:spcPts val="300"/>
              </a:spcBef>
            </a:pPr>
            <a:r>
              <a:rPr lang="en-US" sz="1600" b="1" dirty="0">
                <a:solidFill>
                  <a:srgbClr val="FD571C"/>
                </a:solidFill>
                <a:latin typeface="Outfit"/>
              </a:rPr>
              <a:t>Score 3</a:t>
            </a:r>
            <a:r>
              <a:rPr lang="en-US" sz="1400" b="0" dirty="0">
                <a:solidFill>
                  <a:srgbClr val="0D0A07"/>
                </a:solidFill>
                <a:latin typeface="Outfit"/>
              </a:rPr>
              <a:t xml:space="preserve">  Maybe / borderline — human review needed</a:t>
            </a:r>
          </a:p>
          <a:p>
            <a:pPr>
              <a:spcBef>
                <a:spcPts val="300"/>
              </a:spcBef>
            </a:pPr>
            <a:r>
              <a:rPr lang="en-US" sz="1600" b="1" dirty="0">
                <a:solidFill>
                  <a:srgbClr val="FD571C"/>
                </a:solidFill>
                <a:latin typeface="Outfit"/>
              </a:rPr>
              <a:t>Score 4</a:t>
            </a:r>
            <a:r>
              <a:rPr lang="en-US" sz="1400" b="0" dirty="0">
                <a:solidFill>
                  <a:srgbClr val="0D0A07"/>
                </a:solidFill>
                <a:latin typeface="Outfit"/>
              </a:rPr>
              <a:t xml:space="preserve">  Strong yes — shortlist for phone screen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C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2600"/>
              <a:buFont typeface="Outfit"/>
              <a:buNone/>
            </a:pPr>
            <a:r>
              <a:rPr b="1" i="0" lang="en-US" sz="260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Step 3 — Run the Screener</a:t>
            </a:r>
            <a:endParaRPr b="0" i="0" sz="26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457200" y="804672"/>
            <a:ext cx="1097280" cy="50292"/>
          </a:xfrm>
          <a:prstGeom prst="rect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411480" y="960120"/>
            <a:ext cx="5029200" cy="2011680"/>
          </a:xfrm>
          <a:prstGeom prst="rect">
            <a:avLst/>
          </a:prstGeom>
          <a:solidFill>
            <a:srgbClr val="282828"/>
          </a:solidFill>
          <a:ln cap="flat" cmpd="sng" w="12700">
            <a:solidFill>
              <a:srgbClr val="0D0A0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D0A0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411480" y="960120"/>
            <a:ext cx="5029200" cy="320040"/>
          </a:xfrm>
          <a:prstGeom prst="rect">
            <a:avLst/>
          </a:prstGeom>
          <a:solidFill>
            <a:srgbClr val="0D0A07"/>
          </a:solidFill>
          <a:ln cap="flat" cmpd="sng" w="12700">
            <a:solidFill>
              <a:srgbClr val="0D0A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411480" y="9601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15F"/>
              </a:buClr>
              <a:buSzPts val="1000"/>
              <a:buFont typeface="Outfit"/>
              <a:buNone/>
            </a:pPr>
            <a:r>
              <a:rPr b="0" i="0" lang="en-US" sz="1000" u="none" cap="none" strike="noStrike">
                <a:solidFill>
                  <a:srgbClr val="63615F"/>
                </a:solidFill>
                <a:latin typeface="Outfit"/>
                <a:ea typeface="Outfit"/>
                <a:cs typeface="Outfit"/>
                <a:sym typeface="Outfit"/>
              </a:rPr>
              <a:t>Terminal</a:t>
            </a:r>
            <a:endParaRPr b="0" i="0" sz="1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548640" y="1353312"/>
            <a:ext cx="47548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D571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FD571C"/>
                </a:solidFill>
                <a:latin typeface="Consolas"/>
                <a:ea typeface="Consolas"/>
                <a:cs typeface="Consolas"/>
                <a:sym typeface="Consolas"/>
              </a:rPr>
              <a:t xml:space="preserve">$ </a:t>
            </a:r>
            <a:r>
              <a:rPr b="0" i="0" lang="en-US" sz="95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cd ~/Desktop/ashby-screener</a:t>
            </a:r>
            <a:endParaRPr b="0" i="0" sz="9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D571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FD571C"/>
                </a:solidFill>
                <a:latin typeface="Consolas"/>
                <a:ea typeface="Consolas"/>
                <a:cs typeface="Consolas"/>
                <a:sym typeface="Consolas"/>
              </a:rPr>
              <a:t xml:space="preserve">$ </a:t>
            </a:r>
            <a:endParaRPr b="0" i="0" sz="9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node screen-sr-tpm.js</a:t>
            </a:r>
            <a:endParaRPr b="0" i="0" sz="9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Outfit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Loaded cache: 196 already screened</a:t>
            </a:r>
            <a:endParaRPr b="0" i="0" sz="9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Outfit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Fetching candidates…  Page 1: 200</a:t>
            </a:r>
            <a:endParaRPr b="0" i="0" sz="9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Outfit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[1/500] John Smith (Brainner: 95)  score: 4</a:t>
            </a:r>
            <a:endParaRPr b="0" i="0" sz="9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Outfit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[2/500] Jane Lee  (Brainner: 92)  score: 3</a:t>
            </a:r>
            <a:endParaRPr b="0" i="0" sz="9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5669280" y="960120"/>
            <a:ext cx="3063240" cy="2011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6F2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D0A0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5669280" y="960120"/>
            <a:ext cx="3063240" cy="347472"/>
          </a:xfrm>
          <a:prstGeom prst="rect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5669280" y="960120"/>
            <a:ext cx="3063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Outfit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WHAT HAPPENS</a:t>
            </a:r>
            <a:endParaRPr b="0" i="0" sz="9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5760720" y="1417320"/>
            <a:ext cx="146304" cy="146304"/>
          </a:xfrm>
          <a:prstGeom prst="ellipse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5989320" y="1389888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900"/>
              <a:buFont typeface="Outfit"/>
              <a:buNone/>
            </a:pPr>
            <a:r>
              <a:rPr b="0" i="0" lang="en-US" sz="90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Fetches all candidates from Brainner across paginated pages</a:t>
            </a:r>
            <a:endParaRPr b="0" i="0" sz="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5760720" y="1673352"/>
            <a:ext cx="146304" cy="146304"/>
          </a:xfrm>
          <a:prstGeom prst="ellipse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5989320" y="1645920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900"/>
              <a:buFont typeface="Outfit"/>
              <a:buNone/>
            </a:pPr>
            <a:r>
              <a:rPr b="0" i="0" lang="en-US" sz="90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Skips anyone already in cache (no re-screening)</a:t>
            </a:r>
            <a:endParaRPr b="0" i="0" sz="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5760720" y="1929384"/>
            <a:ext cx="146304" cy="146304"/>
          </a:xfrm>
          <a:prstGeom prst="ellipse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5989320" y="1901952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900"/>
              <a:buFont typeface="Outfit"/>
              <a:buNone/>
            </a:pPr>
            <a:r>
              <a:rPr b="0" i="0" lang="en-US" sz="90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Sorts by Brainner score, takes your TOP_N</a:t>
            </a:r>
            <a:endParaRPr b="0" i="0" sz="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5760720" y="2185416"/>
            <a:ext cx="146304" cy="146304"/>
          </a:xfrm>
          <a:prstGeom prst="ellipse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5989320" y="2157984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900"/>
              <a:buFont typeface="Outfit"/>
              <a:buNone/>
            </a:pPr>
            <a:r>
              <a:rPr b="0" i="0" lang="en-US" sz="90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Sends each resume + criteria to Claude API</a:t>
            </a:r>
            <a:endParaRPr b="0" i="0" sz="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5760720" y="2441448"/>
            <a:ext cx="146304" cy="146304"/>
          </a:xfrm>
          <a:prstGeom prst="ellipse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5989320" y="2414016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900"/>
              <a:buFont typeface="Outfit"/>
              <a:buNone/>
            </a:pPr>
            <a:r>
              <a:rPr b="0" i="0" lang="en-US" sz="90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Saves score + summary to cache and CSV instantly</a:t>
            </a:r>
            <a:endParaRPr b="0" i="0" sz="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5760720" y="2697480"/>
            <a:ext cx="146304" cy="146304"/>
          </a:xfrm>
          <a:prstGeom prst="ellipse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5989320" y="2670048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900"/>
              <a:buFont typeface="Outfit"/>
              <a:buNone/>
            </a:pPr>
            <a:r>
              <a:rPr b="0" i="0" lang="en-US" sz="90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Writes live HTML report after every candidate</a:t>
            </a:r>
            <a:endParaRPr b="0" i="0" sz="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411480" y="3154680"/>
            <a:ext cx="8321040" cy="17190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6F2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D0A0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411480" y="3154680"/>
            <a:ext cx="8321040" cy="347472"/>
          </a:xfrm>
          <a:prstGeom prst="rect">
            <a:avLst/>
          </a:prstGeom>
          <a:solidFill>
            <a:srgbClr val="0D0A07"/>
          </a:solidFill>
          <a:ln cap="flat" cmpd="sng" w="12700">
            <a:solidFill>
              <a:srgbClr val="0D0A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411480" y="3154680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THE CACHE — YOUR BEST FRIEND</a:t>
            </a:r>
            <a:endParaRPr b="0" i="0" sz="1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594360" y="3566160"/>
            <a:ext cx="7955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1050"/>
              <a:buFont typeface="Outfit"/>
              <a:buNone/>
            </a:pPr>
            <a:r>
              <a:rPr b="0" i="0" lang="en-US" sz="105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Every screened candidate is saved to a local JSON cache file (e.g. sr-tpm-cache.json). On every subsequent run, the script checks the cache first and skips anyone already screened — so you never pay twice for the same candidate, and batches always pick up exactly where you left off. Run it 5 times and it screens 5 fresh batches with zero overlap.</a:t>
            </a:r>
            <a:endParaRPr b="0" i="0" sz="10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C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2600"/>
              <a:buFont typeface="Outfit"/>
              <a:buNone/>
            </a:pPr>
            <a:r>
              <a:rPr b="1" i="0" lang="en-US" sz="260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Step 4 — The Live HTML Report (Demo)</a:t>
            </a:r>
            <a:endParaRPr b="0" i="0" sz="26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457200" y="804672"/>
            <a:ext cx="1097280" cy="50292"/>
          </a:xfrm>
          <a:prstGeom prst="rect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9" title="Screenshot 2026-05-04 at 1.11.0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6880" y="911352"/>
            <a:ext cx="5561793" cy="4079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C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2600"/>
              <a:buFont typeface="Outfit"/>
              <a:buNone/>
            </a:pPr>
            <a:r>
              <a:rPr b="1" i="0" lang="en-US" sz="260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Step 5 — Archive in Ashby</a:t>
            </a:r>
            <a:endParaRPr b="0" i="0" sz="26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457200" y="804672"/>
            <a:ext cx="1097280" cy="50292"/>
          </a:xfrm>
          <a:prstGeom prst="rect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411480" y="91440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1100"/>
              <a:buFont typeface="Outfit"/>
              <a:buNone/>
            </a:pPr>
            <a:r>
              <a:rPr b="0" i="0" lang="en-US" sz="110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After the screener finishes, run the archive script. It reads your cache and moves every score 1 and 2 candidate in Ashby — but only if they're currently in Application Review.</a:t>
            </a:r>
            <a:endParaRPr b="0" i="0" sz="1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411480" y="1554480"/>
            <a:ext cx="832104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6F2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D0A0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411480" y="1554480"/>
            <a:ext cx="64008" cy="960120"/>
          </a:xfrm>
          <a:prstGeom prst="rect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594360" y="164592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1200"/>
              <a:buFont typeface="Outfit"/>
              <a:buNone/>
            </a:pPr>
            <a:r>
              <a:rPr b="1" i="0" lang="en-US" sz="120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Only "Application Review"</a:t>
            </a:r>
            <a:endParaRPr b="0" i="0" sz="12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594360" y="1975104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1000"/>
              <a:buFont typeface="Outfit"/>
              <a:buNone/>
            </a:pPr>
            <a:r>
              <a:rPr b="0" i="0" lang="en-US" sz="100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The script checks each candidate's current Ashby stage before moving them. If they've already been moved to Phone Screen, Shortlisted, or any other stage — they are skipped entirely. No accidental moves.</a:t>
            </a:r>
            <a:endParaRPr b="0" i="0" sz="1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411480" y="2651760"/>
            <a:ext cx="832104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6F2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D0A0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411480" y="2651760"/>
            <a:ext cx="64008" cy="960120"/>
          </a:xfrm>
          <a:prstGeom prst="rect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594360" y="274320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1200"/>
              <a:buFont typeface="Outfit"/>
              <a:buNone/>
            </a:pPr>
            <a:r>
              <a:rPr b="1" i="0" lang="en-US" sz="120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Only scores 1 and 2</a:t>
            </a:r>
            <a:endParaRPr b="0" i="0" sz="12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594360" y="3072384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1000"/>
              <a:buFont typeface="Outfit"/>
              <a:buNone/>
            </a:pPr>
            <a:r>
              <a:rPr b="0" i="0" lang="en-US" sz="100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Scores 3 and 4 are never touched. The archive script only reads candidates with ourScore === 1 or ourScore === 2 from the local cache file.</a:t>
            </a:r>
            <a:endParaRPr b="0" i="0" sz="1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411480" y="3749040"/>
            <a:ext cx="832104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6F2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D0A0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411480" y="3749040"/>
            <a:ext cx="64008" cy="960120"/>
          </a:xfrm>
          <a:prstGeom prst="rect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594360" y="384048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1200"/>
              <a:buFont typeface="Outfit"/>
              <a:buNone/>
            </a:pPr>
            <a:r>
              <a:rPr b="1" i="0" lang="en-US" sz="120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Fully automated</a:t>
            </a:r>
            <a:endParaRPr b="0" i="0" sz="12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594360" y="4169664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1000"/>
              <a:buFont typeface="Outfit"/>
              <a:buNone/>
            </a:pPr>
            <a:r>
              <a:rPr b="0" i="0" lang="en-US" sz="100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One command. The script paginates through all Ashby applications, matches by email, checks stage, moves, and prints a full summary. ~150ms per candidate to respect API rate limits.</a:t>
            </a:r>
            <a:endParaRPr b="0" i="0" sz="1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411480" y="4681728"/>
            <a:ext cx="83210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571C"/>
              </a:buClr>
              <a:buSzPts val="950"/>
              <a:buFont typeface="Outfit"/>
              <a:buNone/>
            </a:pPr>
            <a:r>
              <a:rPr b="0" i="1" lang="en-US" sz="950" u="none" cap="none" strike="noStrike">
                <a:solidFill>
                  <a:srgbClr val="FD571C"/>
                </a:solidFill>
                <a:latin typeface="Outfit"/>
                <a:ea typeface="Outfit"/>
                <a:cs typeface="Outfit"/>
                <a:sym typeface="Outfit"/>
              </a:rPr>
              <a:t>Why this matters: We had a candidate nearly archived who was already in a Phone Screen stage. This rule prevents that.</a:t>
            </a:r>
            <a:endParaRPr b="0" i="0" sz="9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C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2600"/>
              <a:buFont typeface="Outfit"/>
              <a:buNone/>
            </a:pPr>
            <a:r>
              <a:rPr b="1" i="0" lang="en-US" sz="260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Pro Tips for Getting the Most Out of This</a:t>
            </a:r>
            <a:endParaRPr b="0" i="0" sz="26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457200" y="804672"/>
            <a:ext cx="1097280" cy="50292"/>
          </a:xfrm>
          <a:prstGeom prst="rect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411480" y="960120"/>
            <a:ext cx="402336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6F2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D0A0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548640" y="1097280"/>
            <a:ext cx="502920" cy="502920"/>
          </a:xfrm>
          <a:prstGeom prst="ellipse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/>
          <p:cNvSpPr/>
          <p:nvPr/>
        </p:nvSpPr>
        <p:spPr>
          <a:xfrm>
            <a:off x="548640" y="10972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utfit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1188720" y="105156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1050"/>
              <a:buFont typeface="Outfit"/>
              <a:buNone/>
            </a:pPr>
            <a:r>
              <a:rPr b="1" i="0" lang="en-US" sz="105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Calibrate before you screen at scale</a:t>
            </a:r>
            <a:endParaRPr b="0" i="0" sz="10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1188720" y="1362456"/>
            <a:ext cx="3108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950"/>
              <a:buFont typeface="Outfit"/>
              <a:buNone/>
            </a:pPr>
            <a:r>
              <a:rPr b="0" i="0" lang="en-US" sz="95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 xml:space="preserve">Run </a:t>
            </a:r>
            <a:r>
              <a:rPr lang="en-US" sz="950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calibration</a:t>
            </a:r>
            <a:r>
              <a:rPr b="0" i="0" lang="en-US" sz="95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 xml:space="preserve"> with the hiring manager. Then update the criteria before sending it through 500 people.</a:t>
            </a:r>
            <a:endParaRPr b="0" i="0" sz="9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4663440" y="960120"/>
            <a:ext cx="402336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6F2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D0A0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4800600" y="1097280"/>
            <a:ext cx="502920" cy="502920"/>
          </a:xfrm>
          <a:prstGeom prst="ellipse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4800600" y="10972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utfit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5440680" y="105156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1050"/>
              <a:buFont typeface="Outfit"/>
              <a:buNone/>
            </a:pPr>
            <a:r>
              <a:rPr b="1" i="0" lang="en-US" sz="105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Always read the score 3s yourself</a:t>
            </a:r>
            <a:endParaRPr b="0" i="0" sz="10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5440680" y="1362456"/>
            <a:ext cx="3108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950"/>
              <a:buFont typeface="Outfit"/>
              <a:buNone/>
            </a:pPr>
            <a:r>
              <a:rPr b="0" i="0" lang="en-US" sz="95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Claude is conservative on 3s — it flags the concern but leaves the call to you. Read the Top Concern for every score 3 and make a human judgment.</a:t>
            </a:r>
            <a:endParaRPr b="0" i="0" sz="9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411480" y="2331720"/>
            <a:ext cx="402336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6F2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D0A0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548640" y="2468880"/>
            <a:ext cx="502920" cy="502920"/>
          </a:xfrm>
          <a:prstGeom prst="ellipse">
            <a:avLst/>
          </a:prstGeom>
          <a:solidFill>
            <a:srgbClr val="0D0A07"/>
          </a:solidFill>
          <a:ln cap="flat" cmpd="sng" w="12700">
            <a:solidFill>
              <a:srgbClr val="0D0A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548640" y="24688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utfit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1188720" y="242316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1050"/>
              <a:buFont typeface="Outfit"/>
              <a:buNone/>
            </a:pPr>
            <a:r>
              <a:rPr b="1" i="0" lang="en-US" sz="105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Keep the criteria tight</a:t>
            </a:r>
            <a:endParaRPr b="0" i="0" sz="10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1188720" y="2734056"/>
            <a:ext cx="3108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950"/>
              <a:buFont typeface="Outfit"/>
              <a:buNone/>
            </a:pPr>
            <a:r>
              <a:rPr b="0" i="0" lang="en-US" sz="95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Longer criteria isn't better. If the HM keeps changing their mind about what matters, the criteria will drift and your scores will be inconsistent.</a:t>
            </a:r>
            <a:endParaRPr b="0" i="0" sz="9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4663440" y="2331720"/>
            <a:ext cx="402336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6F2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D0A0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4800600" y="2468880"/>
            <a:ext cx="502920" cy="502920"/>
          </a:xfrm>
          <a:prstGeom prst="ellipse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4800600" y="24688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utfit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5440680" y="242316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1050"/>
              <a:buFont typeface="Outfit"/>
              <a:buNone/>
            </a:pPr>
            <a:r>
              <a:rPr b="1" i="0" lang="en-US" sz="105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Use the Brainner score as a pre-filter</a:t>
            </a:r>
            <a:endParaRPr b="0" i="0" sz="10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5440680" y="2734056"/>
            <a:ext cx="3108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950"/>
              <a:buFont typeface="Outfit"/>
              <a:buNone/>
            </a:pPr>
            <a:r>
              <a:rPr b="0" i="0" lang="en-US" sz="95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Don't start at the bottom of the Brainner ranked list. Screen the top 500 by Brainner score first. You'll find all your 4s and most of your 3s there.</a:t>
            </a:r>
            <a:endParaRPr b="0" i="0" sz="9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411480" y="3703320"/>
            <a:ext cx="402336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6F2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D0A0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utfit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1188720" y="379476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1050"/>
              <a:buFont typeface="Outfit"/>
              <a:buNone/>
            </a:pPr>
            <a:r>
              <a:rPr b="1" i="0" lang="en-US" sz="105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Add calibration examples as you go</a:t>
            </a:r>
            <a:endParaRPr b="0" i="0" sz="10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1188720" y="4105656"/>
            <a:ext cx="3108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950"/>
              <a:buFont typeface="Outfit"/>
              <a:buNone/>
            </a:pPr>
            <a:r>
              <a:rPr b="0" i="0" lang="en-US" sz="95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Every time a candidate comes back from a screen and you learn something, add them as a calibration example. The criteria gets sharper over time.</a:t>
            </a:r>
            <a:endParaRPr b="0" i="0" sz="9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4663440" y="3703320"/>
            <a:ext cx="402336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6F2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D0A07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4800600" y="3840480"/>
            <a:ext cx="502920" cy="502920"/>
          </a:xfrm>
          <a:prstGeom prst="ellipse">
            <a:avLst/>
          </a:prstGeom>
          <a:solidFill>
            <a:srgbClr val="FD571C"/>
          </a:solidFill>
          <a:ln cap="flat" cmpd="sng" w="12700">
            <a:solidFill>
              <a:srgbClr val="FD5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4800600" y="38404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utfit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b="0" i="0" sz="14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5440680" y="379476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1050"/>
              <a:buFont typeface="Outfit"/>
              <a:buNone/>
            </a:pPr>
            <a:r>
              <a:rPr b="1" i="0" lang="en-US" sz="105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Batch your archiving after each run</a:t>
            </a:r>
            <a:endParaRPr b="0" i="0" sz="10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5440680" y="4105656"/>
            <a:ext cx="3108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D0A07"/>
              </a:buClr>
              <a:buSzPts val="950"/>
              <a:buFont typeface="Outfit"/>
              <a:buNone/>
            </a:pPr>
            <a:r>
              <a:rPr b="0" i="0" lang="en-US" sz="950" u="none" cap="none" strike="noStrike">
                <a:solidFill>
                  <a:srgbClr val="0D0A07"/>
                </a:solidFill>
                <a:latin typeface="Outfit"/>
                <a:ea typeface="Outfit"/>
                <a:cs typeface="Outfit"/>
                <a:sym typeface="Outfit"/>
              </a:rPr>
              <a:t>Don't archive mid-screen. Run the full screener first, review the results, then run the archive script once. Gives you a chance to catch any surprises.</a:t>
            </a:r>
            <a:endParaRPr b="0" i="0" sz="9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D0A07"/>
      </a:dk1>
      <a:lt1>
        <a:srgbClr val="FFFFFF"/>
      </a:lt1>
      <a:dk2>
        <a:srgbClr val="0D0A07"/>
      </a:dk2>
      <a:lt2>
        <a:srgbClr val="F6F2EC"/>
      </a:lt2>
      <a:accent1>
        <a:srgbClr val="4472C4"/>
      </a:accent1>
      <a:accent2>
        <a:srgbClr val="FD571C"/>
      </a:accent2>
      <a:accent3>
        <a:srgbClr val="63615F"/>
      </a:accent3>
      <a:accent4>
        <a:srgbClr val="FD571C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D0A07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D0A07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D0A07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D0A07"/>
      </a:dk1>
      <a:lt1>
        <a:srgbClr val="FFFFFF"/>
      </a:lt1>
      <a:dk2>
        <a:srgbClr val="0D0A07"/>
      </a:dk2>
      <a:lt2>
        <a:srgbClr val="F6F2EC"/>
      </a:lt2>
      <a:accent1>
        <a:srgbClr val="4472C4"/>
      </a:accent1>
      <a:accent2>
        <a:srgbClr val="FD571C"/>
      </a:accent2>
      <a:accent3>
        <a:srgbClr val="63615F"/>
      </a:accent3>
      <a:accent4>
        <a:srgbClr val="FD571C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D0A07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D0A07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D0A07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